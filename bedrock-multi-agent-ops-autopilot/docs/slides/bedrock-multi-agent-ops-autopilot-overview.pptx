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260b365ebb45fd" /><Relationship Type="http://schemas.openxmlformats.org/officeDocument/2006/relationships/extended-properties" Target="/docProps/app.xml" Id="R964b0361111f4689" /><Relationship Type="http://schemas.openxmlformats.org/officeDocument/2006/relationships/officeDocument" Target="/ppt/presentation.xml" Id="R4fb3f0fe9b334f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8b4ca4bfbd4a93"/>
  </p:sldMasterIdLst>
  <p:notesMasterIdLst>
    <p:notesMasterId xmlns:r="http://schemas.openxmlformats.org/officeDocument/2006/relationships" r:id="R2516b709ddd34938"/>
  </p:notesMasterIdLst>
  <p:sldIdLst>
    <p:sldId xmlns:r="http://schemas.openxmlformats.org/officeDocument/2006/relationships" id="256" r:id="R720e9fc8929145ef"/>
    <p:sldId xmlns:r="http://schemas.openxmlformats.org/officeDocument/2006/relationships" id="257" r:id="R35a02afdf3164075"/>
    <p:sldId xmlns:r="http://schemas.openxmlformats.org/officeDocument/2006/relationships" id="258" r:id="Rf1a9e0d2dca044b7"/>
    <p:sldId xmlns:r="http://schemas.openxmlformats.org/officeDocument/2006/relationships" id="259" r:id="R2b277d412b754e7e"/>
    <p:sldId xmlns:r="http://schemas.openxmlformats.org/officeDocument/2006/relationships" id="260" r:id="Rb4f7b6f75f99440a"/>
    <p:sldId xmlns:r="http://schemas.openxmlformats.org/officeDocument/2006/relationships" id="261" r:id="Red4e56a302aa4f59"/>
    <p:sldId xmlns:r="http://schemas.openxmlformats.org/officeDocument/2006/relationships" id="262" r:id="Rae7755183b514dd9"/>
    <p:sldId xmlns:r="http://schemas.openxmlformats.org/officeDocument/2006/relationships" id="263" r:id="Rf7abff16290042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b4ca4bfbd4a93" /><Relationship Type="http://schemas.openxmlformats.org/officeDocument/2006/relationships/theme" Target="/ppt/theme/theme1.xml" Id="R429e708717ca4a0d" /><Relationship Type="http://schemas.openxmlformats.org/officeDocument/2006/relationships/notesMaster" Target="/ppt/notesMasters/notesMaster1.xml" Id="R2516b709ddd34938" /><Relationship Type="http://schemas.openxmlformats.org/officeDocument/2006/relationships/presProps" Target="/ppt/presProps.xml" Id="R485b5ba0b1184f5d" /><Relationship Type="http://schemas.openxmlformats.org/officeDocument/2006/relationships/viewProps" Target="/ppt/viewProps.xml" Id="Rb68169fa027b4c90" /><Relationship Type="http://schemas.openxmlformats.org/officeDocument/2006/relationships/tableStyles" Target="/ppt/tableStyles.xml" Id="R6b14270dd78e442a" /><Relationship Type="http://schemas.openxmlformats.org/officeDocument/2006/relationships/slide" Target="/ppt/slides/slide1.xml" Id="R720e9fc8929145ef" /><Relationship Type="http://schemas.openxmlformats.org/officeDocument/2006/relationships/slide" Target="/ppt/slides/slide2.xml" Id="R35a02afdf3164075" /><Relationship Type="http://schemas.openxmlformats.org/officeDocument/2006/relationships/slide" Target="/ppt/slides/slide3.xml" Id="Rf1a9e0d2dca044b7" /><Relationship Type="http://schemas.openxmlformats.org/officeDocument/2006/relationships/slide" Target="/ppt/slides/slide4.xml" Id="R2b277d412b754e7e" /><Relationship Type="http://schemas.openxmlformats.org/officeDocument/2006/relationships/slide" Target="/ppt/slides/slide5.xml" Id="Rb4f7b6f75f99440a" /><Relationship Type="http://schemas.openxmlformats.org/officeDocument/2006/relationships/slide" Target="/ppt/slides/slide6.xml" Id="Red4e56a302aa4f59" /><Relationship Type="http://schemas.openxmlformats.org/officeDocument/2006/relationships/slide" Target="/ppt/slides/slide7.xml" Id="Rae7755183b514dd9" /><Relationship Type="http://schemas.openxmlformats.org/officeDocument/2006/relationships/slide" Target="/ppt/slides/slide8.xml" Id="Rf7abff16290042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79d04e7370c40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27bab6f24c412c" /><Relationship Type="http://schemas.openxmlformats.org/officeDocument/2006/relationships/notesMaster" Target="/ppt/notesMasters/notesMaster1.xml" Id="Ref59a11d189e45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a390fe190c4402" /><Relationship Type="http://schemas.openxmlformats.org/officeDocument/2006/relationships/notesMaster" Target="/ppt/notesMasters/notesMaster1.xml" Id="R509741e49a404a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0723a00fa14c98" /><Relationship Type="http://schemas.openxmlformats.org/officeDocument/2006/relationships/notesMaster" Target="/ppt/notesMasters/notesMaster1.xml" Id="R1f02c8d088ea47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78f67ce3f64c7f" /><Relationship Type="http://schemas.openxmlformats.org/officeDocument/2006/relationships/notesMaster" Target="/ppt/notesMasters/notesMaster1.xml" Id="Re97798ec8d4144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39ddb16cf94d94" /><Relationship Type="http://schemas.openxmlformats.org/officeDocument/2006/relationships/notesMaster" Target="/ppt/notesMasters/notesMaster1.xml" Id="Raf1612115df3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7f5e05907647b5" /><Relationship Type="http://schemas.openxmlformats.org/officeDocument/2006/relationships/notesMaster" Target="/ppt/notesMasters/notesMaster1.xml" Id="Rf85ee3bba4894c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49891b46f740e8" /><Relationship Type="http://schemas.openxmlformats.org/officeDocument/2006/relationships/notesMaster" Target="/ppt/notesMasters/notesMaster1.xml" Id="R4d622453e0cd49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cdb8c9f19d4e47" /><Relationship Type="http://schemas.openxmlformats.org/officeDocument/2006/relationships/notesMaster" Target="/ppt/notesMasters/notesMaster1.xml" Id="Re5b73d8cbd564f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e451a25294c0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ff925d5163f4377" /><Relationship Type="http://schemas.openxmlformats.org/officeDocument/2006/relationships/slideLayout" Target="/ppt/slideLayouts/slideLayout2.xml" Id="R73c26841ff52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c26841ff52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47d2300d284de1" /><Relationship Type="http://schemas.openxmlformats.org/officeDocument/2006/relationships/notesSlide" Target="/ppt/notesSlides/notesSlide1.xml" Id="R627065a7be754e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b12fe810f7461d" /><Relationship Type="http://schemas.openxmlformats.org/officeDocument/2006/relationships/notesSlide" Target="/ppt/notesSlides/notesSlide2.xml" Id="R1e9af0fce8b14e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a6a69298424bb8" /><Relationship Type="http://schemas.openxmlformats.org/officeDocument/2006/relationships/notesSlide" Target="/ppt/notesSlides/notesSlide3.xml" Id="Rf8d76a5f22434d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00d370b3ac4aff" /><Relationship Type="http://schemas.openxmlformats.org/officeDocument/2006/relationships/notesSlide" Target="/ppt/notesSlides/notesSlide4.xml" Id="R514848d59acf46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2e8a98d7ad403f" /><Relationship Type="http://schemas.openxmlformats.org/officeDocument/2006/relationships/notesSlide" Target="/ppt/notesSlides/notesSlide5.xml" Id="R587fe6bf3fdb4f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2e6acfe194b85" /><Relationship Type="http://schemas.openxmlformats.org/officeDocument/2006/relationships/notesSlide" Target="/ppt/notesSlides/notesSlide6.xml" Id="R4049b9cdeb884b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859fb27adc4bcc" /><Relationship Type="http://schemas.openxmlformats.org/officeDocument/2006/relationships/notesSlide" Target="/ppt/notesSlides/notesSlide7.xml" Id="R37f22f941cd841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d2be9bed344ac7" /><Relationship Type="http://schemas.openxmlformats.org/officeDocument/2006/relationships/notesSlide" Target="/ppt/notesSlides/notesSlide8.xml" Id="Rcbf36eea08df41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CC78F1-973E-4E57-A532-AF6EC75F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C7DF9-6A2B-4F8E-916D-D685DF91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81CF6-8106-4AF9-A146-0DEADF5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0">
            <a:solidFill>
              <a:srgbClr val="1234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69C6B-B49B-402D-9318-BEC0BF52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57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A8E"/>
          </a:solidFill>
          <a:ln xmlns:a="http://schemas.openxmlformats.org/drawingml/2006/main" w="0">
            <a:solidFill>
              <a:srgbClr val="1F5A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D6B2E-94D0-4D6A-A092-8B2D8DAA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AC1EC-12C1-4293-8731-0CE7D7C3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rPr>
              <a:t>Bedrock Multi-Agent Ops Autopilot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16B3E-CBDF-4904-87C0-A4C61570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AWS運用イベントを起点に、Supervisor Agent が Sub-agent へ委譲し、調査・提案・承認付き修復・レポート通知までをつなぐ PoC / ポートフォリオ実装。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8993F-1C25-4373-9669-FF5E2E9F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9530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4E70F-9EF5-4D26-ABD4-F82E7D56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このデッキで分かること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E3318-1617-4112-B126-B1F90310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9811A-EFF5-49DC-A1C9-60FCE344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なぜこの構成が必要なのか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1F04A-16B5-4BD4-AA47-6B851185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54C0C-6DB4-41C3-88B4-FC0A3B68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Terraform / Bedrock / Lambda がどう接続されるか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33BF4-A379-4592-8501-096AF2D7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81475-6B37-4B52-A95C-A66EF1A5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障害系とコスト系のフローがどこで分岐するか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DE4DE-E649-4170-8164-5133FC38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87"/>
          </a:solidFill>
          <a:ln xmlns:a="http://schemas.openxmlformats.org/drawingml/2006/main" w="0">
            <a:solidFill>
              <a:srgbClr val="FF7F8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E87F4-DE7C-4A42-9474-6424A2A8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安全設計と現状の実装ギャップは何か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8E73C-A211-4CFC-AB48-80B961FC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270B6-5C7F-46F3-98C1-E393FD45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コードをどの順で読めば最短で理解できるか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48D20-8019-431B-BEA8-0139B4FA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1238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BCBB7-70FB-495B-958B-2FA52EB7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3EE48-AE34-45C1-A744-4F3FB20E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00450"/>
            <a:ext cx="100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Sub-agents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700D2-1E88-4C06-B29F-79364A2F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238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E91C7-791E-4B57-A731-C0393FB0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4D2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54D2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23C7E-4688-47EA-A310-63AEE630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00450"/>
            <a:ext cx="100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Action Lambdas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166A1B-15AB-46D7-A034-762E4A0F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238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E93E9-5513-434F-99B9-8019C06E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5755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B296AF-B74F-435F-B59C-4BBD7CB2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0450"/>
            <a:ext cx="100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Event 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6A1B11-C2B3-46E8-8A80-CC83F072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29100"/>
            <a:ext cx="1238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A2E36-72AE-463D-BD1B-359B8FEF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D89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D89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A6F36A-051F-48F1-8FFF-021794CC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100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E0FFA2-8650-4BCD-88E8-7A41FF7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1238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16D7BA-3269-40F9-9F1A-51538DA4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434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4D2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54D2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EE54C-C90B-4A3A-9D6C-BD9E5DB1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86300"/>
            <a:ext cx="100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State machine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8EC7D1-7624-4430-8DE1-173AC2F3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29100"/>
            <a:ext cx="1238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748245-BA39-4C2E-AAB1-8BCDCCF8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43400"/>
            <a:ext cx="100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7F8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7F87"/>
                </a:solidFill>
                <a:latin typeface="Aptos Display"/>
                <a:ea typeface="Aptos Display"/>
                <a:cs typeface="Aptos Display"/>
              </a:rPr>
              <a:t>3+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E31883-B89F-41A8-9982-8D4438BA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86300"/>
            <a:ext cx="1009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Known gaps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4DB6F5-82A3-49CC-9FFD-3FA5258B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911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Source base: README, ARCHITECTURE.md, docs/runbook.md, Terraform modules, Lambda handlers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F912CA-1F66-4BA0-885E-A95EE511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rPr>
              <a:t>bedrock-multi-agent-ops-autopilot  |  slide 01</a:t>
            </a:r>
          </a:p>
        </p:txBody>
      </p:sp>
    </p:spTree>
    <p:extLst>
      <p:ext uri="{BB962C8B-B14F-4D97-AF65-F5344CB8AC3E}">
        <p14:creationId xmlns:p14="http://schemas.microsoft.com/office/powerpoint/2010/main" val="19134273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F0782F-2777-415F-A648-80BD1CF2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D0AD2-3DA5-4B7B-9F53-83E5D6DC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3F2E2-FCFA-442E-9122-ECE874D5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0">
            <a:solidFill>
              <a:srgbClr val="1234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BB030-38BA-442A-B8D0-5E5E9F40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57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A8E"/>
          </a:solidFill>
          <a:ln xmlns:a="http://schemas.openxmlformats.org/drawingml/2006/main" w="0">
            <a:solidFill>
              <a:srgbClr val="1F5A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C2A6B-BA51-4204-B0F9-1D748A07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360C6-9194-4588-9617-633CF36C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rPr>
              <a:t>目的は『AIで全部置き換えること』ではなく、運用判断を安全に分業させること。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17016-CF33-4332-969E-EDB31EA5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README と ADR から読み取れる設計思想を、採用理由とトレードオフに分けて整理した。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D943D-FA7A-4F42-A4B6-54083749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1244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79016-4E05-431B-835F-DA3BAD48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78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なぜ単一エージェントではないのか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19B35-BB0B-4703-953E-0378ADC9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478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AWS運用は調査・分析・修復・通知で要求能力が異なる。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79590-B17F-4FD6-9C1E-D17FA2FE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E1583-F4CE-4224-866C-E0E86B83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障害調査は CloudWatch / X-Ray / Config の横断読解が必要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8D885-C0CC-4EC1-9B4E-81717AE7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C55B9-2B0A-4FD4-82B2-ED2C94A0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コスト最適化は Cost Explorer と EC2 の読み取り中心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6EDB9-697A-44B3-A328-B081FAD5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B206A-85F1-4621-AF25-EDB2FE20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修復は危険度が高く、承認と権限制御が最優先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66082-78F1-43F4-B0D4-D3A82DA1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42BE5-C97E-4101-98E6-917BFE53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レポートは人に伝わる形へ再構成する別能力が必要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8CE6E-7CD1-4BF2-8A54-ACE0152C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19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27027-78C1-4F17-AD87-CA2FAB53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全部を 1 つの prompt に詰めると責務が膨らみ、改善単位も粗くなる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31D07-8B44-4C50-9C0D-51849947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76400"/>
            <a:ext cx="55626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A2EF8-7FFA-4E18-8053-FBAF6C24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521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採用した答え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A0BE9-2D2C-477C-A428-85242D70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521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Supervisor + Sub-agent パターン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F3A46-CD01-40C7-9F83-67E10687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71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AB2BC-F5FD-48BC-9567-1B44C81A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493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Supervisor は Sonnet で状況判断と委譲だけを担当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382A12-8935-47EB-91C1-730C9C8E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57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36C9A-1354-4F68-9D5A-2A5A3477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90800"/>
            <a:ext cx="493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専門作業は Haiku Sub-agent に逃がしてコストを抑制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1A2A44-14C2-46AC-B71A-637204F6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245BE6-A742-4B95-8AF2-A73E1C2F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493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Bedrock Multi-Agent Collaboration のネイティブ委譲をそのまま活用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4178FE-A351-494B-AE34-0958F9CB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55626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5FACCB-E22D-4DDC-89C6-EDC82C32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521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この設計で得るもの / 支払うもの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A7C4D-91BA-4462-82C2-9C1B2442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521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ADR-001 の内容を理解用に要約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F5007-EDB9-4750-B8FD-25A4747C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DC9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C97"/>
                </a:solidFill>
                <a:latin typeface="Aptos"/>
                <a:ea typeface="Aptos"/>
                <a:cs typeface="Aptos"/>
              </a:rPr>
              <a:t>得るもの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AF9D8-B78F-44AC-B7C4-E2B5F5C4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304288-628D-41A4-B967-8394A4D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責務分離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71D4C4-D0B2-4429-930B-FE1C045D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2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947F3B-CFCD-439D-B6E9-FE87EC67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モデルコスト最適化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352C7B-D688-446E-936D-70D0ED01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7D3E7D-131D-4F45-BCD2-CD6AF412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911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個別改善しやすい構造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6D848A-5CC0-4542-A1BB-52516DFE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48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F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7F87"/>
                </a:solidFill>
                <a:latin typeface="Aptos"/>
                <a:ea typeface="Aptos"/>
                <a:cs typeface="Aptos"/>
              </a:rPr>
              <a:t>支払うもの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837060-0002-4486-832F-F50CC716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48D1B8-9D58-4232-9AA5-3C97B377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339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IAM と agent 間配線が複雑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117CD2-C3C0-4C02-95B1-E77535F5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2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9F4DF7-54FE-4E41-B556-C2359602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呼び出し回数増による遅延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32741B-84E0-402A-9D67-1874B854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8D2162-2B04-4036-AC7D-DEB7189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911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委譲設計ミス時の不整合リスク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604627-EEE5-42CE-B679-068A76F6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rPr>
              <a:t>bedrock-multi-agent-ops-autopilot  |  slide 02</a:t>
            </a:r>
          </a:p>
        </p:txBody>
      </p:sp>
    </p:spTree>
    <p:extLst>
      <p:ext uri="{BB962C8B-B14F-4D97-AF65-F5344CB8AC3E}">
        <p14:creationId xmlns:p14="http://schemas.microsoft.com/office/powerpoint/2010/main" val="6092700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1C67D4-8FBE-4056-9701-4A430A8B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F7571-2C31-4F46-AAD0-958A452B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F32E2-D66E-4842-BD69-3729385B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0">
            <a:solidFill>
              <a:srgbClr val="1234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E6F03-8B71-433C-A6E5-4796FB70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57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A8E"/>
          </a:solidFill>
          <a:ln xmlns:a="http://schemas.openxmlformats.org/drawingml/2006/main" w="0">
            <a:solidFill>
              <a:srgbClr val="1F5A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42C34-D973-4112-9343-7976375A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SYSTEM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2B8CB-6CF6-47A1-BC46-9AFAE9DD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rPr>
              <a:t>判断は Bedrock、実作業は Lambda へ落とす。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A6424-D982-49BE-B5E4-E76A5FA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Step Functions は長い業務ロジックではなく、Supervisor 呼び出しのラッパーとして使われている。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2F8E2-E723-48D7-B68B-0DD64A50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1144250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169F3-0CA5-4133-A738-8AE6CA5E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0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End-to-end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ADB07-C868-4D78-ACE1-A00A937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0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構想図と実装コードの共通部分だけに絞って再描画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3E5F0-D20F-4B1F-8277-A8AAA47D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638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2742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A449B-B406-4759-9C7F-2C6F5D7A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01278-2649-43F7-B7F5-7A6140AE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EventBridge</a:t>
            </a:r>
          </a:p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Cost anomaly / Alarm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5E5ED-A9D9-4848-9575-7214DCB3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90800"/>
            <a:ext cx="171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3055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9D1BF-8F2B-45A6-BFBC-2B9A715B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2755D-9F26-4378-A6F4-6E6F4402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Step Functions</a:t>
            </a:r>
          </a:p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records start / 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687F6-DC64-4187-AF4C-AC2A5D38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1981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1436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C3906-689F-4CBC-805B-BC31AE3C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90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Supervisor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56DEE-EF03-46D6-A06F-AC056D6D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3845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Claude 3.7 Sonnet</a:t>
            </a:r>
          </a:p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Bedrock native collaboration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DBE76F-CAC5-47DA-8971-7AAF1756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1752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D2D4E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36917-2734-4BD6-A496-183DE9D7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Incident Investigator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F1325-84CF-40C9-9DF2-B7C38600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717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CloudWatch / X-Ray /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FA2C57-C981-4475-BF79-21FE2230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1752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D2D4E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798F5D-FEAF-49C9-BA46-C1B57A32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Cost Optimizer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0F82C-4217-48BF-B28E-987FF561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Cost Explorer / EC2 read-only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84FD75-854D-47EA-9F89-DFC5FC32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1752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9233B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8D5DC6-BF3A-4ADC-9F30-87C905E9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575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Remediation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B72D4B-D5B3-404E-AF2E-8E3083F3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051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Approval request / SSM command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34C04-2B83-4C4E-BDC9-E3B74EF1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24150"/>
            <a:ext cx="1752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93544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BE4B2E-FC70-4B7C-9115-9FD34720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Reporter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FB58D-77C4-4A50-AE80-9189D82C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HTML report / Chatwork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63322C-CD99-456F-86FD-6AC72158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1752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12033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45A549-4B6A-48EA-8D82-9EC55046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814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Approval Table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1406E6-20F7-40D0-A87D-90B75CC7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291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DynamoDB</a:t>
            </a:r>
          </a:p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human-in-the-loop 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35C5A4-6151-4A04-9488-C0CA441B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48100"/>
            <a:ext cx="1752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12033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2A0C7A-3685-447D-813E-8730325B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Execution History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61D97A-4AE7-4F5A-9EE2-4AF8A9B8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291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DynamoDB</a:t>
            </a:r>
          </a:p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run audit trail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73E0B4-8689-47A8-8A6F-A4481188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1752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43225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9A2D4D-5218-447E-92E1-B5852585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482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Reports &amp; Notify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0D2B54-3413-4940-9963-CD4E1B28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959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S3 HTML + Chatwork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CFEC25-F4FD-4FE7-929B-78B155FC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527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2FF"/>
          </a:solidFill>
          <a:ln xmlns:a="http://schemas.openxmlformats.org/drawingml/2006/main" w="0">
            <a:solidFill>
              <a:srgbClr val="54D2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D86054-37B3-4A2F-B8C0-C1BD5087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2FF"/>
          </a:solidFill>
          <a:ln xmlns:a="http://schemas.openxmlformats.org/drawingml/2006/main" w="0">
            <a:solidFill>
              <a:srgbClr val="54D2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78F959-771C-4CAD-A427-8313B014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955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2FF"/>
          </a:solidFill>
          <a:ln xmlns:a="http://schemas.openxmlformats.org/drawingml/2006/main" w="0">
            <a:solidFill>
              <a:srgbClr val="54D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52E05A-3E8A-4E72-8B1F-465792AF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289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2FF"/>
          </a:solidFill>
          <a:ln xmlns:a="http://schemas.openxmlformats.org/drawingml/2006/main" w="0">
            <a:solidFill>
              <a:srgbClr val="54D2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EDB914-3E35-4B5C-BDE8-14CA71DA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240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2393BF-A0C8-4A7B-A511-103F3F35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575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BE31FA-FA93-4F65-8E56-2FB3A6B5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909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87"/>
          </a:solidFill>
          <a:ln xmlns:a="http://schemas.openxmlformats.org/drawingml/2006/main" w="0">
            <a:solidFill>
              <a:srgbClr val="FF7F8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D77A72-5D75-4D65-9B4E-138E2C20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909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2FF"/>
          </a:solidFill>
          <a:ln xmlns:a="http://schemas.openxmlformats.org/drawingml/2006/main" w="0">
            <a:solidFill>
              <a:srgbClr val="54D2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0752EB-759D-45B4-97C1-BCF5FFFE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19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3DDC9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835073-D2CE-4F99-AE29-6ECE3C35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47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Sub-agent layer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B9D514-4ECA-4786-8FE9-50692AE5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7F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FF7F87"/>
                </a:solidFill>
                <a:latin typeface="Aptos Mono"/>
                <a:ea typeface="Aptos Mono"/>
                <a:cs typeface="Aptos Mono"/>
              </a:rPr>
              <a:t>Human approval is isolated here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33CD6E-98CF-4243-B5AA-0C9DBCB4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86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Current Step Functions logic stops at invoke + status update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7B32BC-FADC-4A2C-8D2D-EBFE7141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rPr>
              <a:t>bedrock-multi-agent-ops-autopilot  |  slide 03</a:t>
            </a:r>
          </a:p>
        </p:txBody>
      </p:sp>
    </p:spTree>
    <p:extLst>
      <p:ext uri="{BB962C8B-B14F-4D97-AF65-F5344CB8AC3E}">
        <p14:creationId xmlns:p14="http://schemas.microsoft.com/office/powerpoint/2010/main" val="9857120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CA5286-C40D-40AF-9DD2-A3DFE16B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2D007-E06E-456A-A5D2-3D74CAEB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B6942-5FD5-40C0-894B-F41A96E9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0">
            <a:solidFill>
              <a:srgbClr val="1234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4C0E9-2795-4853-AB9B-BE05AFCE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57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A8E"/>
          </a:solidFill>
          <a:ln xmlns:a="http://schemas.openxmlformats.org/drawingml/2006/main" w="0">
            <a:solidFill>
              <a:srgbClr val="1F5A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F5EF6-76B0-4A76-9E56-0320AA53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CODEBASE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AEEA0-AA53-4CA7-B3AC-69597505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rPr>
              <a:t>理解の近道は『Terraform が骨格、agents と lambda が中身、stepfunctions が境界』と分けて読むこと。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E6C37-6D84-47ED-A5C0-5EC5E8F7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ファイル構成をそのまま責務マップに変換した。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05FBB-F5CB-49AF-BC1A-6F71B92A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590800" cy="37719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08ACE-12B9-4659-B862-5834FE02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terraform/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399EF-C232-42BE-AF10-C5B7CC7D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AWS リソースの定義本体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AE80F-0E80-413B-B4BB-8F924132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68975-7A6B-4A11-B990-8DED562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root main.tf で 4 modules を束ねる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EA0EA-D697-4239-8199-A020851F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57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A8488-9FA6-4046-A8BC-BB593A04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foundation: S3 / DDB / SSM /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82896-DF46-40DF-B368-99FE533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8245C-7A44-4527-B586-3B94CA84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lambda: 4 Action Group Lambdas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D3EB8-44EF-48F9-B9F9-BA6E4A63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8B94D-F818-44E3-B555-0C9E26F4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agents: Guardrail + agents + collaborators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B61DC-55BC-4806-842A-BAE71106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AB0A8-CB72-439E-B524-2D4CEFF2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stepfunctions: state machine + EventBridge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B2376-4B49-44BA-8B34-5EC86EF4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2590800" cy="37719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B53B1-D0DB-4F01-9090-7CBB4F6B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agents/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B1FCB-9081-4640-865E-691C4300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Bedrock Agent の振る舞い定義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6C436-479E-464C-A35D-45790B41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89B6F-04A4-4EFD-B794-987ACF41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supervisor/instruction.txt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2C684B-9AE2-4B8D-93F2-DC9BB1C7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57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24968C-F6F4-4D63-99C2-E62DBE6F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incident_investigator/*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CA477B-473F-40F9-85CA-C2299476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334A1-9CAB-4852-B3C5-4575DE49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384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cost_optimizer/*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9A548-8C40-492B-B72F-7D704D10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C6A12F-361F-4CE7-9228-6A25FF10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remediation/*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5BB9B7-662C-4F7F-8561-044199F5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FC3A11-B231-468D-9D21-418E3AA0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337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reporter/*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41D33A-2464-4DE7-8695-73A36881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590800" cy="37719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F8AE49-3E3E-4C07-95D1-C67751FB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lambda/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C7F02D-CF43-48F2-BB8A-F1E1AB58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Action Group の実処理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5CBBAF-3F04-4FB3-ACD2-CDFAA962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645890-838F-4EAD-AE13-8D761982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investigator: 調査 API を束ねる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414325-B896-4F50-B6D1-094917A6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42EF3B-2F25-4499-B5B8-84424F87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cost: anomaly / rightsizing / unused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BBBB8D-537F-4FE4-85EB-89858D78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F60F90-0346-4B04-8306-09864A26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remediation: approval + SSM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162532-87F2-4B76-A6AF-F2F1D2C5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CEFCA-5235-4BD2-9FEA-8C3DB2C3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reporter: HTML + presigned URL + Chatwork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6A6CE0-1480-464E-AD7A-CEFFF5C3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B9DC39-22F4-4AFD-BE57-16FA7571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全関数で Powertools と X-Ray を使用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250DC2-B7C8-4CB4-83D5-6847D864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590800" cy="37719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2F2CCD-45C9-4813-AF87-74283B3F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859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stepfunctions/ + docs/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F737E7-46BD-4382-9DD2-FE444866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145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実行境界と説明資料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3500ED-1A10-4FCF-B006-39039021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517BC8-3E1C-473E-A5D1-C9B7029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ops_orchestrator.asl.json が本体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AC6DCF-68EC-4039-85E8-0C570A12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57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223AAF-524A-4F07-9101-3061452A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908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README は導入手順と期待像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D61AE3-6408-4EF9-B3AC-0424AE0E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9E5ED4-D734-42FB-9B9E-0ECC0A1C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ARCHITECTURE.md は現実とのギャップ整理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14444C-1DCA-4681-88BF-D78F5505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BC466C-3F99-4B5F-B3EE-624B0AFF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861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runbook は運用手順のつもり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3BED10-C874-414A-8216-1C2E833F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45B639-C330-4089-9BC7-33B1467A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ADR は設計意図の根拠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3CB32B-5155-43F7-9223-4B6A7F92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3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8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D89A"/>
                </a:solidFill>
                <a:latin typeface="Aptos"/>
                <a:ea typeface="Aptos"/>
                <a:cs typeface="Aptos"/>
              </a:rPr>
              <a:t>読む順番の推奨: README → terraform/main.tf → modules/stepfunctions → ASL → modules/agents → agents/* → lambda/* → runbook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B428D3-56A9-4279-A4A4-687EFD97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rPr>
              <a:t>bedrock-multi-agent-ops-autopilot  |  slide 04</a:t>
            </a:r>
          </a:p>
        </p:txBody>
      </p:sp>
    </p:spTree>
    <p:extLst>
      <p:ext uri="{BB962C8B-B14F-4D97-AF65-F5344CB8AC3E}">
        <p14:creationId xmlns:p14="http://schemas.microsoft.com/office/powerpoint/2010/main" val="4127708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D475ED-1F75-4177-93CA-B5D8422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4AD62-A5F7-4911-9DB5-F2FBDD14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232B0-051A-46B7-9CE4-D7FFF31A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0">
            <a:solidFill>
              <a:srgbClr val="1234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D8F55-ACE0-4E95-92E9-85876739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57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A8E"/>
          </a:solidFill>
          <a:ln xmlns:a="http://schemas.openxmlformats.org/drawingml/2006/main" w="0">
            <a:solidFill>
              <a:srgbClr val="1F5A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4957F-661D-4D53-9A9F-46196EE7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EXECUTION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CD862-8229-4E9A-95DD-46D5111B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rPr>
              <a:t>入口は違っても、最終的には同じ Supervisor ループに収束する。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3EDC8-E9B1-4E82-9EBE-9E06D854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実装上は Step Functions が短く、判断ロジックの重心は Bedrock Supervisor 側にある。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D8505-027F-444E-9D63-133D1A9F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8AF83-E9D8-4667-8750-565D0D2A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062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Two entry flows, one orchestration 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E0FDA-5E6E-49F2-AAA0-52C81EF8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062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README / runbook / ASL / Lambda 実装を突き合わせた結果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E9B15-A3E5-47A5-AE49-22B7965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Cost anomaly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46011-159D-4F5A-8FAF-7366F46F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431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4A4F6-5591-458B-9D4A-084091D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Cost Anomaly Detection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C0B31-5AB9-40C9-97DD-5062BDE8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051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サービス単位の異常を検知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FC494-D390-4C76-AD55-D705B249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241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B92BB-149D-495E-BE83-C6B8E198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E3F34-FBA2-4536-99DA-6ADF116F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765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EventBridge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41BDB-A6F2-4255-9AA0-440AFF8D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051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detail を anomaly_id / total_impact に整形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0096E-FD88-4B64-B15C-21B267EE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241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E1880-5884-47F8-9474-1C99BE17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31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8279E-D7CC-43FA-ABB1-D6EFF37E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Step Functions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8916F-0ABD-4D4B-93C0-776575D8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051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RUNNING を記録して Supervisor invoke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C60A2-330C-4BB1-87E6-227B04B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A3819A-A47F-4C0F-9CBA-025281A9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9035F4-CC61-4126-AB35-1E2047C5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1828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12D70-3CB0-4D3A-A4C6-B88B7EC1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Cost Optimizer / Reporter / 必要なら Remediation へ委譲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92AB7-285F-462B-A7CD-304671A8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42E94A-7303-4134-BA24-B3321A18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431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43225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080E1-5620-47E7-A0C3-C06D53AB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765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969483-E45F-46AA-8602-FB7DCE2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051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SUCCEEDED or FAILED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4B489E-642A-4DCD-835D-1E46347D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D2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4D2FF"/>
                </a:solidFill>
                <a:latin typeface="Aptos"/>
                <a:ea typeface="Aptos"/>
                <a:cs typeface="Aptos"/>
              </a:rPr>
              <a:t>Incident alarm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91DA4E-B1B6-4A2E-AB6B-A59FFCF7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766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513D26-B765-4FE7-B1C6-37F1F79F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100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CloudWatch Alarm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022441-DD58-4B50-8443-8954CAD6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ALARM 遷移を発火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64BBA0-1D99-4C18-9A6A-33B852BE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576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2FF"/>
          </a:solidFill>
          <a:ln xmlns:a="http://schemas.openxmlformats.org/drawingml/2006/main" w="0">
            <a:solidFill>
              <a:srgbClr val="54D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A7EA0F-1250-47A2-A935-FAF0A925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766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3EE38D-6EEC-4AD6-B25C-92ED17E9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100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EventBridge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06259A-6E5B-4424-BFE1-C006C345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386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alarm_name / state / reason を抽出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A81EDF-11B8-4762-972B-CFE7A92A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576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2FF"/>
          </a:solidFill>
          <a:ln xmlns:a="http://schemas.openxmlformats.org/drawingml/2006/main" w="0">
            <a:solidFill>
              <a:srgbClr val="54D2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0ADB3F-2FF1-4A08-B03D-BF650CE8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766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0817F9-8D88-4BF3-898A-F2AE63D3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Step Functions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BF8C41-BDAC-4138-B0E0-2D9A016A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386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同じ state machine で処理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7B8359-F5E2-43D6-A418-40AFFC42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576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2FF"/>
          </a:solidFill>
          <a:ln xmlns:a="http://schemas.openxmlformats.org/drawingml/2006/main" w="0">
            <a:solidFill>
              <a:srgbClr val="54D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73AA35-8B23-4005-8EC5-A5577EFE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7665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F3F98F-5D80-48FA-A20A-AF9E252A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0000"/>
            <a:ext cx="1828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3FE32D-D34E-4D49-BC87-C6E1307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386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Investigator 中心で調査し、必要に応じて報告や修復へ分岐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F4E802-4BB5-4368-8D68-74A4F336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576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2FF"/>
          </a:solidFill>
          <a:ln xmlns:a="http://schemas.openxmlformats.org/drawingml/2006/main" w="0">
            <a:solidFill>
              <a:srgbClr val="54D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AD31B6-F13A-424E-A1E7-A25ECE08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766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43225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BCFC44-263A-40B6-8108-1F890024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100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5BCE0A-1423-49A5-ADE8-B39DFCF8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0386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状態更新は同一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3909F9-D533-43DC-8D76-5EC0BB0C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40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F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7F87"/>
                </a:solidFill>
                <a:latin typeface="Aptos"/>
                <a:ea typeface="Aptos"/>
                <a:cs typeface="Aptos"/>
              </a:rPr>
              <a:t>重要: Step Functions には承認待ちループ、Wait、再開制御はまだない。承認の中心は Remediation Lambda 側に寄っている。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EF600A-66DD-4E3A-8D33-82781108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rPr>
              <a:t>bedrock-multi-agent-ops-autopilot  |  slide 05</a:t>
            </a:r>
          </a:p>
        </p:txBody>
      </p:sp>
    </p:spTree>
    <p:extLst>
      <p:ext uri="{BB962C8B-B14F-4D97-AF65-F5344CB8AC3E}">
        <p14:creationId xmlns:p14="http://schemas.microsoft.com/office/powerpoint/2010/main" val="10456899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C702C-F614-4292-A937-85C94B7C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ADC57-C4E2-45BF-8961-8DB98EBA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21999-A9F1-45EE-BCD2-DF0A6CBB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0">
            <a:solidFill>
              <a:srgbClr val="1234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DF1F6-C3CC-4372-BC73-90B55D10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57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A8E"/>
          </a:solidFill>
          <a:ln xmlns:a="http://schemas.openxmlformats.org/drawingml/2006/main" w="0">
            <a:solidFill>
              <a:srgbClr val="1F5A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A017D-F527-4C62-8888-66CC6465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AGENT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BDFA4-5DE2-49CE-A02B-FDEFE722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rPr>
              <a:t>『調査』『提案』『修復』『報告』の線引きが、このプロジェクトの分かりやすさを作っている。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87BF5-1478-4747-9EFC-3CF6C577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Terraform agents module と各 Lambda handler の対応関係を一覧化した。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66FCA-7617-4385-ABFF-24D54BB8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C1430-8573-4FF7-922D-55E27D4C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062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Role-to-implementation matrix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94243-90D3-45FC-9683-CAC2DC96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062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Action Group と IAM の責務境界も同時に把握する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B0E26-66FF-4642-91C8-4285C5B9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0676B-CCD5-4D65-88AF-F655E0A2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09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914CD-D721-46F0-AE79-FFEAFDA8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Primary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E0BA0-5A5E-4358-9BC0-8368D106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Action surface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08FF1-9CD6-4879-B5DF-762E95DD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Safety stance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A762F-197F-46F2-89C1-52F9A0CC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045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35DB6-52E3-42AD-AB93-8225117A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57743-2A8E-47E6-A32C-3B2ADAFC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D2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D2FF"/>
                </a:solidFill>
                <a:latin typeface="Aptos"/>
                <a:ea typeface="Aptos"/>
                <a:cs typeface="Aptos"/>
              </a:rPr>
              <a:t>Sonnet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7FD43-CAAC-4A88-8653-06A954A3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状況判断 / 委譲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80F69-62FD-4538-8E66-DC30238D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なし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67F82-5828-4FE8-90C4-6130ABE5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7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Sub-agent へ collaborator 委譲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E5B37C-D0E9-47D0-9F02-8AD5B8F8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45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2B49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19210F-ECE3-468B-B573-B565D3EE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Incident Investigator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5D8CC5-C7FC-486C-8200-E47DCD07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D2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D2FF"/>
                </a:solidFill>
                <a:latin typeface="Aptos"/>
                <a:ea typeface="Aptos"/>
                <a:cs typeface="Aptos"/>
              </a:rPr>
              <a:t>Haiku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7EC54-49BF-4587-883E-3AA57065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障害調査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E0AC64-77FB-4990-AAF2-215DD309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CloudWatch / X-Ray / Config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82EB06-1E7E-4784-9746-62FB019E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76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読み取り専用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4EDE5-BA8D-4D78-91A3-3E46D584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045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D0E79F-40EF-4C4A-A1AC-A06E40E1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Cost Optimizer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C0D6F7-F07A-429C-9F20-F264D24C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862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D2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D2FF"/>
                </a:solidFill>
                <a:latin typeface="Aptos"/>
                <a:ea typeface="Aptos"/>
                <a:cs typeface="Aptos"/>
              </a:rPr>
              <a:t>Haiku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6C42A2-5343-492D-9219-173CF2EF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86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コスト分析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EF1FEF-E6F6-4D4C-9825-0C4E00AD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86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CE / EC2 describe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171831-B423-401E-9E3A-84217D6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86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提案のみで変更しない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2475F4-5DC3-42EB-A527-1B50DFCB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045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2B49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45936C-7828-4B52-AF8B-71DA215E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Remediation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80246A-2623-41F4-B6DA-50D4B3D0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95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D2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D2FF"/>
                </a:solidFill>
                <a:latin typeface="Aptos"/>
                <a:ea typeface="Aptos"/>
                <a:cs typeface="Aptos"/>
              </a:rPr>
              <a:t>Haiku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07E54D-F72B-47F4-886E-3E88B845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承認付き修復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943395-1790-4A46-9200-CFC6AF6E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95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DynamoDB / SSM / Chatwork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7E1649-84EE-4EE0-A19F-06640FEE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95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approved のみ実行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A35F97-56AA-4A38-AB38-3BE93B2D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1045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226031-B063-4EC7-B946-FBBA9EAF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Reporter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8CD694-5AFB-4753-84F7-7BEA293E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054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D2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D2FF"/>
                </a:solidFill>
                <a:latin typeface="Aptos"/>
                <a:ea typeface="Aptos"/>
                <a:cs typeface="Aptos"/>
              </a:rPr>
              <a:t>Haiku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6B04EE-6B29-4350-B1A3-8D4CC621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05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レポート通知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EB6978-749F-46AF-8341-1DAFA8E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05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S3 / presigned URL / Chatwork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A55B27-EEFB-44C6-9512-6FF25EF2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05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人間に返す最終成果物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308D4F-07D5-439D-9D85-5F68C685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045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Guardrail は Supervisor と全 Sub-agent に共通適用される。『危険な指示をしない』だけでなく、Remediation の IAM から危険権限を外す二重防御になっている。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0F5891-8E03-477B-8FD1-D1568F69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rPr>
              <a:t>bedrock-multi-agent-ops-autopilot  |  slide 06</a:t>
            </a:r>
          </a:p>
        </p:txBody>
      </p:sp>
    </p:spTree>
    <p:extLst>
      <p:ext uri="{BB962C8B-B14F-4D97-AF65-F5344CB8AC3E}">
        <p14:creationId xmlns:p14="http://schemas.microsoft.com/office/powerpoint/2010/main" val="6573258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9353A-D110-4844-940A-FD0A4CF2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DBC23-FD43-472C-A941-A41A1D6B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667A0-430B-43E3-8BA6-51B6FD96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0">
            <a:solidFill>
              <a:srgbClr val="1234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D9BE5-4988-4747-98FB-184FF11C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57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A8E"/>
          </a:solidFill>
          <a:ln xmlns:a="http://schemas.openxmlformats.org/drawingml/2006/main" w="0">
            <a:solidFill>
              <a:srgbClr val="1F5A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1B780-7E1C-4F1B-BE26-390B77F8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SAFETY +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7E56A-12F1-4607-8108-CD5EA44E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rPr>
              <a:t>このプロジェクトの価値は自動化そのものより、『危険な自動化をどう抑えるか』まで設計している点にある。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7E1E4-6855-4722-8E1A-3B1398FA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セキュリティ設計・承認設計・モデルコスト設計を一枚に統合した。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EBCDF-F896-43EA-B198-91DFB6C9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81C1C-0236-4E41-855A-FAFEA083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$20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AC5E1-9574-4AB4-BBF6-D60DAF2D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monthly cost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58D74-DD65-4129-98B1-821B96CE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9070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D3B30-26CA-4910-9B5C-5F5C93AF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050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4D2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54D2FF"/>
                </a:solidFill>
                <a:latin typeface="Aptos Display"/>
                <a:ea typeface="Aptos Display"/>
                <a:cs typeface="Aptos Display"/>
              </a:rPr>
              <a:t>30d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30C32-0929-4EC3-B89F-EED84483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479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Supervisor session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4486D-2C76-4905-88F2-5D6B9FE2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79070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36003-1F93-40D4-B1F5-F0CAA6E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050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24h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5EAB1-0EE3-46CD-BC47-C83682D9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approval TTL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72918-E5A2-4BA8-AFFE-FD288CA7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9070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1E7E5-FA15-48E8-BDBF-875F2BD9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050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D89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D89A"/>
                </a:solidFill>
                <a:latin typeface="Aptos Display"/>
                <a:ea typeface="Aptos Display"/>
                <a:cs typeface="Aptos Display"/>
              </a:rPr>
              <a:t>90d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AFC22-13F4-4BF1-B3F9-2CD7182E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S3 report archive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16006-A53D-4301-B93F-F7011BDA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9070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3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ADAAC-7594-48E0-8FA9-FE5DB07A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050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7F8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7F87"/>
                </a:solidFill>
                <a:latin typeface="Aptos Display"/>
                <a:ea typeface="Aptos Display"/>
                <a:cs typeface="Aptos Display"/>
              </a:rPr>
              <a:t>365d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A43F9A-9919-4607-AE73-94039344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S3 report deletion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DA7C1E-5607-4066-88C0-DA037A01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4290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3A988-0417-41A6-9CB5-066CFB39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Safety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77D85-44DA-417F-BCE4-5F12C8AB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コードから確認できた安全装置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7D2A1-BE42-498B-90D2-F2B449E9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B9D96-0D55-4F62-A130-3E082877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Guardrail で destructive operations を DENY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8D8233-ACC4-4790-BBA1-B43D9F4C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9C7F8-AF44-4F12-98D5-0712C6DE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Remediation IAM から terminate / delete / iam:* を除外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34494B-0F03-4E84-B1E8-46368157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EEBE7F-CC01-4ED5-995D-BA8D966B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承認テーブルの status を確認しないと SSM 実行不可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CF5C99-830E-4073-9E7B-9F6AF6EF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473F3-402C-4FC8-8AF6-C003372F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Step Functions / Lambda とも X-Ray, logs を有効化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F55085-6C94-420D-8317-438D04B1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34290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C882B9-4F03-41D7-B0DA-B607574E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Cost controls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BF8BEC-4A49-457B-9CD2-EBCFBED6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ADR と Terraform から読み取れる意図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9367ED-CC2C-4D06-BF01-DCBAC904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D3FFA4-3DE1-4457-9367-DA19FC48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判断だけ Sonnet、専門処理は Haiku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023E2E-15DB-4957-A7C6-6B332499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C7B968-CFE8-4F69-90CA-AD1ED6D6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862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Step Functions 側で invoke timeout / retry を制御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CDC063-FFC5-4BF9-B359-8C231628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B57257-EF0D-4465-A376-29DFED2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52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Cost anomaly threshold は 50 USD 固定値で作成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79DF83-A3BF-48E0-812E-9D458755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FB27C3-3708-4219-AC74-5B794C60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必要以上の自動修復より『提案で止める』寄りの思想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561325-D4F6-4480-B870-9A19D59D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36576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672B48-39B6-461B-A255-B904E7DB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Operational nuance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57DFD1-355D-43AB-88EB-BAB9DA2C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運用時に誤解しやすいポイント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4E7641-BCEA-40E5-81F8-17864272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626906-0EC0-4CD0-93AC-87768722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195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runbook の承認値は APPROVED / REJECTED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71E5B7-0ED9-4BD4-9C9F-73F5E11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DD20C9-916A-4A9E-A0A0-B2D738A5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862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Lambda 実装は approved / pending_approval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9BCF74-0909-4A01-BB71-9B96122D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0706A8-566E-4551-B052-1C655780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529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Reporter は /bmao/s3/reports_bucket を追加前提で参照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445C94-D63A-4DE9-853D-EB7AD373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92F7CC-C69D-47D3-BABC-3A05EAF3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196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安全思想は強いが、運用導線はまだ補強途中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217485-C0EE-4537-A756-3C2B072E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rPr>
              <a:t>bedrock-multi-agent-ops-autopilot  |  slide 07</a:t>
            </a:r>
          </a:p>
        </p:txBody>
      </p:sp>
    </p:spTree>
    <p:extLst>
      <p:ext uri="{BB962C8B-B14F-4D97-AF65-F5344CB8AC3E}">
        <p14:creationId xmlns:p14="http://schemas.microsoft.com/office/powerpoint/2010/main" val="10883895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C76C1D-5550-4E13-9F36-462C838E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D616D-D94A-46EC-83E9-A08E14C4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E137A-507A-41C1-B801-94322B02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5C"/>
          </a:solidFill>
          <a:ln xmlns:a="http://schemas.openxmlformats.org/drawingml/2006/main" w="0">
            <a:solidFill>
              <a:srgbClr val="1234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D53B8-532E-4F38-B3B9-0DB31ED4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57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A8E"/>
          </a:solidFill>
          <a:ln xmlns:a="http://schemas.openxmlformats.org/drawingml/2006/main" w="0">
            <a:solidFill>
              <a:srgbClr val="1F5A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AC6D9-513D-4731-B91C-98EA42C5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CURRENT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04FB1-3542-421E-9428-320E024D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6FB"/>
                </a:solidFill>
                <a:latin typeface="Aptos Display"/>
                <a:ea typeface="Aptos Display"/>
                <a:cs typeface="Aptos Display"/>
              </a:rPr>
              <a:t>完成形の構想と、今のコードが担う範囲は分けて見る。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7930A-0D69-42A5-9169-0FAA9753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ARCHITECTURE.md で明示されているギャップを、オンボーディング向けに整理した。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AF6F0-AB46-4559-9692-44B51224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EF21A-9D47-4D5F-B6EF-BA380BB5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すでにできていること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D2BD6-C569-4C90-9DF0-F70BA41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PoC として価値が出ている部分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905E9-BF0D-4DEE-A544-E447022F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6CDE6-F32D-4E5E-8EE5-18756A49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Terraform で基盤と agents を一通り作れる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D84CE-DF98-424A-A7BE-0626BC55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F955D-377D-4580-9761-1C8CC433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Supervisor から 4 Sub-agent へネイティブ委譲できる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158D6-C089-40A5-B956-CB2635EA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752A0-D8A6-4883-B635-924ADC8A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Action Group Lambda が具体的な AWS API を叩ける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C60EE-7C3D-4837-9478-E996E54A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BF02A9-9C5C-4510-A486-7DF4AD6F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EventBridge から Step Functions 起動まで通る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E1CAA-FFB2-442C-ACA5-A3CCA298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44B4D-FCEA-47C4-B8C0-A7DAECC8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実行履歴と承認の受け皿がある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3D2BD-0F13-4778-A93C-3318BFC8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71650"/>
            <a:ext cx="3314700" cy="36385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50511-8B64-4794-88F6-785F3ACD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次に直すと理解が締まる点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6F2FB-08AB-49AF-8FB4-ACB4EF50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実装ギャップの中心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0333B-CD3B-4E9E-9BDF-B5A2A185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32D7B-7BB6-4C10-A127-F8FB09A0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承認待ちループを Step Functions 側に持たせる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CCE4B-4791-424B-B524-2EFE7761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6BBD42-7439-4DA8-845F-F989E903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Reporter 用 SSM パラメータを Terraform 管理に寄せる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E81BC-F817-4B5C-A0A1-D6EE7B80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62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EF3FD6-B738-4C37-B4B2-C966A14F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execution-history のキー整合を remediation と合わせる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4B9412-587A-4CE4-9A99-72E595DE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E5F698-C6A5-40FB-82A4-135ABCFB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runbook と実装で status 値を統一する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D14EE-E77A-4600-993E-65B040FB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415F49-D806-4C0D-8071-3CFD22F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alert threshold の変数と実リソースを一致させる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ABB24B-2188-43C9-A918-4550FCB0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38481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7426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F3B478-2801-4554-B1C4-05606FFD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350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F6FB"/>
                </a:solidFill>
                <a:latin typeface="Aptos"/>
                <a:ea typeface="Aptos"/>
                <a:cs typeface="Aptos"/>
              </a:rPr>
              <a:t>このプロジェクトを完全理解する読み順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CC054-A9FB-4658-A0D6-C95BD372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0C8"/>
                </a:solidFill>
                <a:latin typeface="Aptos"/>
                <a:ea typeface="Aptos"/>
                <a:cs typeface="Aptos"/>
              </a:rPr>
              <a:t>最短で迷わないルート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054DB-A4D6-4DD5-BC86-8294BFE8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3D0155-F871-453C-97BF-DCED25B6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1. README で目指す体験を掴む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93AA6B-6649-4A31-B723-2F7A1504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C27F37-80F7-4A53-B925-D8319489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2. terraform/main.tf でモジュール境界を見る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59A5D7-CBE2-48CD-BBB8-DBC3E86C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932173-B860-40AD-B178-8D952CCC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3. modules/stepfunctions と ASL で実行範囲を把握する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48DD60-9B42-4205-AF2B-6B0846A9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D5ECE1-3D1B-45EA-985F-1862A7A3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4. modules/agents と supervisor.tf で委譲配線を見る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66215C-E48E-424F-A006-F3B880E0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19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297661-39D1-48A2-AA0F-AF44C697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5. lambda/*/handler.py で『実際に何をするか』を読む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9BED76-5760-4D54-9A26-1AA6DD24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6E9887-D4B0-4DE0-9148-B6E7B87D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6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3F6FB"/>
                </a:solidFill>
                <a:latin typeface="Aptos"/>
                <a:ea typeface="Aptos"/>
                <a:cs typeface="Aptos"/>
              </a:rPr>
              <a:t>6. ARCHITECTURE.md で構想との差分を確認する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883B92-7352-4557-A4E7-007A205F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3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8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D89A"/>
                </a:solidFill>
                <a:latin typeface="Aptos"/>
                <a:ea typeface="Aptos"/>
                <a:cs typeface="Aptos"/>
              </a:rPr>
              <a:t>結論: このリポジトリは『AI 運用自動化の最終形』ではなく、『安全な multi-agent 運用自動化をどう組み上げるか』を具体コードで見せる教材として非常に強い。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C19765-F1CD-4978-969A-1514A88F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E91AF"/>
                </a:solidFill>
                <a:latin typeface="Aptos Mono"/>
                <a:ea typeface="Aptos Mono"/>
                <a:cs typeface="Aptos Mono"/>
              </a:rPr>
              <a:t>bedrock-multi-agent-ops-autopilot  |  slide 08</a:t>
            </a:r>
          </a:p>
        </p:txBody>
      </p:sp>
    </p:spTree>
    <p:extLst>
      <p:ext uri="{BB962C8B-B14F-4D97-AF65-F5344CB8AC3E}">
        <p14:creationId xmlns:p14="http://schemas.microsoft.com/office/powerpoint/2010/main" val="1379489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2026-05-07T12:36:27.4530000Z</dcterms:created>
  <dcterms:modified xsi:type="dcterms:W3CDTF">2026-05-07T12:36:27.4530000Z</dcterms:modified>
</coreProperties>
</file>